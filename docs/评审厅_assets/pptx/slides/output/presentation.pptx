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2D9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◤◢  REVIEW HALL v2.11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F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赛博评审厅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566928" y="2697480"/>
            <a:ext cx="2011680" cy="45720"/>
          </a:xfrm>
          <a:prstGeom prst="rect">
            <a:avLst/>
          </a:prstGeom>
          <a:solidFill>
            <a:srgbClr val="FF2D9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926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 AI 金融评审厅 ｜ 华为云码道 Agent 创新赛 · 珠海科技学院站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 位虚拟评委 × 9 类投资风格 × 22 维数据 ｜ 规则引擎 + 多智能体辩论评估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核心开发：华为云码道 CodeArts（Spec-Driven + Agent Team）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痛点：普通投资者没有专业评审流程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2296" cy="68580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1430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F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专业机构流程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63240" y="1115568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券商研究所 = 数十名分析师 + 风控委员会 + 卖方共识，个人投资者孤军奋战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39112"/>
            <a:ext cx="82296" cy="68580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3911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F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普通股民现实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63240" y="201168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单看 K 线追涨杀跌、听消息、凭直觉 —— 没有多空对抗、没有分歧收敛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35224"/>
            <a:ext cx="82296" cy="68580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35224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F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市场复杂度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63240" y="2907792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存量博弈 A 股：价值 / 成长 / 游资 / 量化各流派对同一标的观点剧烈冲突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82296" cy="685800"/>
          </a:xfrm>
          <a:prstGeom prst="rect">
            <a:avLst/>
          </a:prstGeom>
          <a:solidFill>
            <a:srgbClr val="FF2D9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3133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F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时代机会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63240" y="3803904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把交易公司级别的评审流程，以多智能体形式自动化、可视化、人人可用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93024" y="4594860"/>
            <a:ext cx="566928" cy="237744"/>
          </a:xfrm>
          <a:prstGeom prst="rect">
            <a:avLst/>
          </a:prstGeom>
          <a:solidFill>
            <a:srgbClr val="FF2D95"/>
          </a:solidFill>
          <a:ln/>
        </p:spPr>
      </p:sp>
      <p:sp>
        <p:nvSpPr>
          <p:cNvPr id="16" name="Text 14"/>
          <p:cNvSpPr/>
          <p:nvPr/>
        </p:nvSpPr>
        <p:spPr>
          <a:xfrm>
            <a:off x="8193024" y="45948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解法：多智能体评审厅 = 交易公司级别的标准化评审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输入股票代码 → 51 位虚拟评委各按自己的投资方法论打分 → 流派分歧可视化 → 多空 3 轮辩论 → 综合判定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101829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0078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规则引擎骨架分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15798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维数据 × 51 评委 × 180 条量化规则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 · 秒级 · 零 LLM 依赖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55448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101829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70078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深度评审 Agent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15798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4-5 个并行 sub-agent 角色扮演打分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254203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可覆盖规则分，需附 override_reason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101829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25526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分歧检测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371246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|规则 − Agent| &gt; 30 自动标记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0965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评审墙红点 + 雷达轴高亮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310896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101829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255264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共识汇总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71246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F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overall = fund×0.6 + consensus×0.4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409651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 / 65 / 50 / 35 四档判定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193024" y="4594860"/>
            <a:ext cx="566928" cy="237744"/>
          </a:xfrm>
          <a:prstGeom prst="rect">
            <a:avLst/>
          </a:prstGeom>
          <a:solidFill>
            <a:srgbClr val="FF2D95"/>
          </a:solidFill>
          <a:ln/>
        </p:spPr>
      </p:sp>
      <p:sp>
        <p:nvSpPr>
          <p:cNvPr id="21" name="Text 19"/>
          <p:cNvSpPr/>
          <p:nvPr/>
        </p:nvSpPr>
        <p:spPr>
          <a:xfrm>
            <a:off x="8193024" y="45948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系统架构：前端评审厅 + 后端规则引擎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101829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801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· 赛博评审厅 Dashboard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609344"/>
            <a:ext cx="365760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 评委投票墙（逐人点亮动画）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流派分歧雷达（ECharts 8 轴）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分歧点高亮 ｜ 多空 3 轮辩论区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快速档 30s / 深度回放双模式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（HTML + JS + ECharts · 赛博朋克主题）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1554480"/>
          </a:xfrm>
          <a:prstGeom prst="roundRect">
            <a:avLst>
              <a:gd name="adj" fmla="val 3529"/>
            </a:avLst>
          </a:prstGeom>
          <a:solidFill>
            <a:srgbClr val="101829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2801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· FastAPI 规则引擎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00600" y="1609344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维 × 51 评委 × 180 条规则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确定性评分 · 秒级 · 零 LLM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overall = fund×0.6 + consensus×0.4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verdict 阈值 80/65/50/35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2880360"/>
            <a:ext cx="3931920" cy="1600200"/>
          </a:xfrm>
          <a:prstGeom prst="roundRect">
            <a:avLst>
              <a:gd name="adj" fmla="val 3429"/>
            </a:avLst>
          </a:prstGeom>
          <a:solidFill>
            <a:srgbClr val="101829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971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数据层（演示兜底）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3300984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demo_deep.json 预设数据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600519 茅台 / 000001 平安银行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300750 宁德时代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非实时行情 · 教学演示用途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5902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①② 华为云码道 CodeArts 生成 ｜ ③ GitCode 公开仓库证据链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93024" y="4594860"/>
            <a:ext cx="566928" cy="237744"/>
          </a:xfrm>
          <a:prstGeom prst="rect">
            <a:avLst/>
          </a:prstGeom>
          <a:solidFill>
            <a:srgbClr val="FF2D95"/>
          </a:solidFill>
          <a:ln/>
        </p:spPr>
      </p:sp>
      <p:sp>
        <p:nvSpPr>
          <p:cNvPr id="14" name="Text 12"/>
          <p:cNvSpPr/>
          <p:nvPr/>
        </p:nvSpPr>
        <p:spPr>
          <a:xfrm>
            <a:off x="8193024" y="45948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码道使用深度 ①：Spec-Driven 三阶段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548640" cy="548640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30759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2161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F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spec.md 需求规格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545336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功能列表：51 评委投票墙 / 雷达图 / 分歧检测 / 双模式 / 辩论区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760720" y="121615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截图位置：码道 spec 页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548640" cy="548640"/>
          </a:xfrm>
          <a:prstGeom prst="rect">
            <a:avLst/>
          </a:prstGeom>
          <a:solidFill>
            <a:srgbClr val="FF2D9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54203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4505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F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design.md 方案设计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779776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前后端架构拆分、API 契约、ECharts 雷达 8 轴数据格式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760720" y="24505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截图位置：码道 design 页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3703320"/>
            <a:ext cx="548640" cy="54864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776472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36850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F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tasks.md 任务拆解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4014216"/>
            <a:ext cx="6309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后端规则引擎与前端 Dashboard 并行任务、验收标准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760720" y="36850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截图位置：码道 tasks 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93024" y="4594860"/>
            <a:ext cx="566928" cy="237744"/>
          </a:xfrm>
          <a:prstGeom prst="rect">
            <a:avLst/>
          </a:prstGeom>
          <a:solidFill>
            <a:srgbClr val="FF2D95"/>
          </a:solidFill>
          <a:ln/>
        </p:spPr>
      </p:sp>
      <p:sp>
        <p:nvSpPr>
          <p:cNvPr id="19" name="Text 17"/>
          <p:cNvSpPr/>
          <p:nvPr/>
        </p:nvSpPr>
        <p:spPr>
          <a:xfrm>
            <a:off x="8193024" y="45948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码道使用深度 ②：Agent Team 并行 + 迭代修复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749040" cy="914400"/>
          </a:xfrm>
          <a:prstGeom prst="roundRect">
            <a:avLst>
              <a:gd name="adj" fmla="val 6000"/>
            </a:avLst>
          </a:prstGeom>
          <a:solidFill>
            <a:srgbClr val="101829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6245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Leader 智能编排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拆解后端/前端/数据三路任务并派发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749040" cy="914400"/>
          </a:xfrm>
          <a:prstGeom prst="roundRect">
            <a:avLst>
              <a:gd name="adj" fmla="val 6000"/>
            </a:avLst>
          </a:prstGeom>
          <a:solidFill>
            <a:srgbClr val="101829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1401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Teammate 自主执行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持续化独立上下文，双向自由通信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749040" cy="914400"/>
          </a:xfrm>
          <a:prstGeom prst="roundRect">
            <a:avLst>
              <a:gd name="adj" fmla="val 6000"/>
            </a:avLst>
          </a:prstGeom>
          <a:solidFill>
            <a:srgbClr val="101829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655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共享任务池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成员自主认领，事件驱动可视化推进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101829"/>
          </a:solidFill>
          <a:ln w="12700">
            <a:solidFill>
              <a:srgbClr val="FF2D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624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报错 → 修复记录 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169164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规则引擎字段缺失 → 码道补全 22 维 schema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228600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101829"/>
          </a:solidFill>
          <a:ln w="12700">
            <a:solidFill>
              <a:srgbClr val="FF2D9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4140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报错 → 修复记录 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274320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前端雷达轴数超限 → 收敛为 8 轴并加图例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3337560"/>
            <a:ext cx="4023360" cy="914400"/>
          </a:xfrm>
          <a:prstGeom prst="roundRect">
            <a:avLst>
              <a:gd name="adj" fmla="val 6000"/>
            </a:avLst>
          </a:prstGeom>
          <a:solidFill>
            <a:srgbClr val="101829"/>
          </a:solidFill>
          <a:ln w="12700">
            <a:solidFill>
              <a:srgbClr val="FF2D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34655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2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 → 提交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379476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curl localhost:8000 实测返回 51 评委 JSON 后入库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截图证据：Agent Team 可视化 + Spec-Driven 三件套 + 报错修复对话时间线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93024" y="4594860"/>
            <a:ext cx="566928" cy="237744"/>
          </a:xfrm>
          <a:prstGeom prst="rect">
            <a:avLst/>
          </a:prstGeom>
          <a:solidFill>
            <a:srgbClr val="FF2D95"/>
          </a:solidFill>
          <a:ln/>
        </p:spPr>
      </p:sp>
      <p:sp>
        <p:nvSpPr>
          <p:cNvPr id="23" name="Text 21"/>
          <p:cNvSpPr/>
          <p:nvPr/>
        </p:nvSpPr>
        <p:spPr>
          <a:xfrm>
            <a:off x="8193024" y="45948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创新点与理论依据：更细粒度的多智能体辩论评估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914400"/>
          </a:xfrm>
          <a:prstGeom prst="roundRect">
            <a:avLst>
              <a:gd name="adj" fmla="val 6000"/>
            </a:avLst>
          </a:prstGeom>
          <a:solidFill>
            <a:srgbClr val="101829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167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ChatEval（清华）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0" y="129844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多智能体辩论评估优于单模型 —— 我们的 4-5 并行评审 Agent 同源于此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8046720" cy="914400"/>
          </a:xfrm>
          <a:prstGeom prst="roundRect">
            <a:avLst>
              <a:gd name="adj" fmla="val 6000"/>
            </a:avLst>
          </a:prstGeom>
          <a:solidFill>
            <a:srgbClr val="101829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682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Multi-Agents-Debate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0" y="235000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多智能体辩论消歧 —— 评审墙 3 轮结构化分歧正是其工程化落地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8046720" cy="914400"/>
          </a:xfrm>
          <a:prstGeom prst="roundRect">
            <a:avLst>
              <a:gd name="adj" fmla="val 6000"/>
            </a:avLst>
          </a:prstGeom>
          <a:solidFill>
            <a:srgbClr val="101829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198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TradingAgents-astock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340156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股 7 分析师 Bull/Bear 辩论 —— 我们扩展为 51 评委 9 流派全覆盖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差异点：单 Agent 打分是点估计，本系统是「51 评委 × 分歧检测 × 多空对抗」的分布结构化评审，且核心代码 100% 由华为云码道生成。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93024" y="4594860"/>
            <a:ext cx="566928" cy="237744"/>
          </a:xfrm>
          <a:prstGeom prst="rect">
            <a:avLst/>
          </a:prstGeom>
          <a:solidFill>
            <a:srgbClr val="FF2D95"/>
          </a:solidFill>
          <a:ln/>
        </p:spPr>
      </p:sp>
      <p:sp>
        <p:nvSpPr>
          <p:cNvPr id="14" name="Text 12"/>
          <p:cNvSpPr/>
          <p:nvPr/>
        </p:nvSpPr>
        <p:spPr>
          <a:xfrm>
            <a:off x="8193024" y="45948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现场演示与未来展望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快速档（30 秒实跑）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F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600519 → 规则引擎 51 评委骨架分 → 投票墙逐人点亮 → 雷达 8 轴 → 分歧点出现 → 综合判定 66.92 分「可以蹲一蹲」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2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深度回放（预生成分析）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F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 000001 / 300750 → 完整过程回放 → 多空 3 轮辩论 → 评审报告（支持面/风险面/入场区间）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3840480" cy="3657600"/>
          </a:xfrm>
          <a:prstGeom prst="roundRect">
            <a:avLst>
              <a:gd name="adj" fmla="val 2000"/>
            </a:avLst>
          </a:prstGeom>
          <a:solidFill>
            <a:srgbClr val="101829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325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83480" y="1737360"/>
            <a:ext cx="3429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F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接入实时行情，规则引擎动态评分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F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评委名单可扩展（个人自定义流派）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F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从个股扩展到组合 / 行业对比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FE8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沉淀「人人可用的 AI 评审」SaaS 原型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REDUCE NOISE · SHOW DIVERGENCE · TRUST THE PANEL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193024" y="4594860"/>
            <a:ext cx="566928" cy="237744"/>
          </a:xfrm>
          <a:prstGeom prst="rect">
            <a:avLst/>
          </a:prstGeom>
          <a:solidFill>
            <a:srgbClr val="FF2D95"/>
          </a:solidFill>
          <a:ln/>
        </p:spPr>
      </p:sp>
      <p:sp>
        <p:nvSpPr>
          <p:cNvPr id="12" name="Text 10"/>
          <p:cNvSpPr/>
          <p:nvPr/>
        </p:nvSpPr>
        <p:spPr>
          <a:xfrm>
            <a:off x="8193024" y="45948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评分标准对齐 · 初赛 100 分自评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对照初赛评分维度逐项自评 · 全部证据见 评分标准对齐自查表.md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功能完备度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08960" y="1371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 / 30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480560" y="1554480"/>
            <a:ext cx="4114800" cy="164592"/>
          </a:xfrm>
          <a:prstGeom prst="roundRect">
            <a:avLst>
              <a:gd name="adj" fmla="val 22222"/>
            </a:avLst>
          </a:prstGeom>
          <a:solidFill>
            <a:srgbClr val="101829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80560" y="1554480"/>
            <a:ext cx="3840480" cy="164592"/>
          </a:xfrm>
          <a:prstGeom prst="roundRect">
            <a:avLst>
              <a:gd name="adj" fmla="val 22222"/>
            </a:avLst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74650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 评委投票墙/雷达/判定/分歧/辩论/报告/对比/历史 全验证通过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9842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码道深度使用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19385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2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25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80560" y="2121408"/>
            <a:ext cx="4114800" cy="164592"/>
          </a:xfrm>
          <a:prstGeom prst="roundRect">
            <a:avLst>
              <a:gd name="adj" fmla="val 22222"/>
            </a:avLst>
          </a:prstGeom>
          <a:solidFill>
            <a:srgbClr val="101829"/>
          </a:solidFill>
          <a:ln w="6350">
            <a:solidFill>
              <a:srgbClr val="FF2D9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2121408"/>
            <a:ext cx="3291840" cy="164592"/>
          </a:xfrm>
          <a:prstGeom prst="roundRect">
            <a:avLst>
              <a:gd name="adj" fmla="val 22222"/>
            </a:avLst>
          </a:prstGeom>
          <a:solidFill>
            <a:srgbClr val="FF2D95"/>
          </a:solidFill>
          <a:ln w="12700">
            <a:solidFill>
              <a:srgbClr val="FF2D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231343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Spec-Driven 三件套 + Agent Team 并行 · 截图待补（SOP §4）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55117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专业贴合与创新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08960" y="250545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25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480560" y="2688336"/>
            <a:ext cx="4114800" cy="164592"/>
          </a:xfrm>
          <a:prstGeom prst="roundRect">
            <a:avLst>
              <a:gd name="adj" fmla="val 22222"/>
            </a:avLst>
          </a:prstGeom>
          <a:solidFill>
            <a:srgbClr val="101829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80560" y="2688336"/>
            <a:ext cx="3621024" cy="164592"/>
          </a:xfrm>
          <a:prstGeom prst="roundRect">
            <a:avLst>
              <a:gd name="adj" fmla="val 22222"/>
            </a:avLst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28803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51 评委 × 8 流派争议评审 · vs TradingAgents-astock 7 分析师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1181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技术架构与工程质量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108960" y="307238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0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15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480560" y="3255264"/>
            <a:ext cx="4114800" cy="164592"/>
          </a:xfrm>
          <a:prstGeom prst="roundRect">
            <a:avLst>
              <a:gd name="adj" fmla="val 22222"/>
            </a:avLst>
          </a:prstGeom>
          <a:solidFill>
            <a:srgbClr val="101829"/>
          </a:solidFill>
          <a:ln w="6350">
            <a:solidFill>
              <a:srgbClr val="00F0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0560" y="3255264"/>
            <a:ext cx="3840480" cy="164592"/>
          </a:xfrm>
          <a:prstGeom prst="roundRect">
            <a:avLst>
              <a:gd name="adj" fmla="val 22222"/>
            </a:avLst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344728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纯前端零依赖 + FastAPI 后端 · SVG 自绘 · main.py + test_rule_engine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68503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交付规范性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108960" y="363931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5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480560" y="3822192"/>
            <a:ext cx="4114800" cy="164592"/>
          </a:xfrm>
          <a:prstGeom prst="roundRect">
            <a:avLst>
              <a:gd name="adj" fmla="val 22222"/>
            </a:avLst>
          </a:prstGeom>
          <a:solidFill>
            <a:srgbClr val="101829"/>
          </a:solidFill>
          <a:ln w="6350">
            <a:solidFill>
              <a:srgbClr val="FFD7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3822192"/>
            <a:ext cx="3291840" cy="164592"/>
          </a:xfrm>
          <a:prstGeom prst="roundRect">
            <a:avLst>
              <a:gd name="adj" fmla="val 22222"/>
            </a:avLst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0" y="401421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 可复现 + 提交包结构完整 + 演示视频分镜脚本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合计自评 88 / 100 · 待 D16-D18 补齐码道 8 项截图证据后预估 92+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93024" y="4594860"/>
            <a:ext cx="566928" cy="237744"/>
          </a:xfrm>
          <a:prstGeom prst="rect">
            <a:avLst/>
          </a:prstGeom>
          <a:solidFill>
            <a:srgbClr val="FF2D95"/>
          </a:solidFill>
          <a:ln/>
        </p:spPr>
      </p:sp>
      <p:sp>
        <p:nvSpPr>
          <p:cNvPr id="31" name="Text 29"/>
          <p:cNvSpPr/>
          <p:nvPr/>
        </p:nvSpPr>
        <p:spPr>
          <a:xfrm>
            <a:off x="8193024" y="459486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pptx-generator</dc:creator>
  <cp:lastModifiedBy>pptx-generator</cp:lastModifiedBy>
  <cp:revision>1</cp:revision>
  <dcterms:created xsi:type="dcterms:W3CDTF">2026-10-03T08:12:42Z</dcterms:created>
  <dcterms:modified xsi:type="dcterms:W3CDTF">2026-10-03T08:12:42Z</dcterms:modified>
</cp:coreProperties>
</file>